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/>
            </a:pPr>
            <a:r>
              <a:t>FOOD EMPATHY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418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/>
            </a:pPr>
            <a:r>
              <a:t>Understanding what people think, feel, say, do, hear and experience around food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1. What Is a Food Empathy Map?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A simple tool for understanding a person's food choices and experiences.</a:t>
            </a:r>
          </a:p>
          <a:p>
            <a:pPr>
              <a:spcAft>
                <a:spcPts val="1000"/>
              </a:spcAft>
              <a:defRPr sz="2200"/>
            </a:pPr>
            <a:r>
              <a:t>It helps us look beyond the food itself and understand emotions, habits, needs and challenges.</a:t>
            </a:r>
          </a:p>
          <a:p>
            <a:pPr>
              <a:spcAft>
                <a:spcPts val="1000"/>
              </a:spcAft>
              <a:defRPr sz="2200"/>
            </a:pPr>
            <a:r>
              <a:t>Useful for designing better meals, food services, products and healthy-eating experiences.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2. Example Food Persona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Persona: A college student who wants convenient, affordable and tasty food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Age: 18–22 years</a:t>
            </a:r>
          </a:p>
          <a:p>
            <a:pPr>
              <a:spcAft>
                <a:spcPts val="1000"/>
              </a:spcAft>
              <a:defRPr sz="2100"/>
            </a:pPr>
            <a:r>
              <a:t>Needs: Affordable meals, convenience, variety and good taste</a:t>
            </a:r>
          </a:p>
          <a:p>
            <a:pPr>
              <a:spcAft>
                <a:spcPts val="1000"/>
              </a:spcAft>
              <a:defRPr sz="2100"/>
            </a:pPr>
            <a:r>
              <a:t>Challenges: Limited time, budget constraints and unhealthy fast-food options</a:t>
            </a:r>
          </a:p>
          <a:p>
            <a:pPr>
              <a:spcAft>
                <a:spcPts val="1000"/>
              </a:spcAft>
              <a:defRPr sz="2100"/>
            </a:pPr>
            <a:r>
              <a:t>Goal: Eat enjoyable food without spending too much time or money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3. Food Empathy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1737360"/>
          </a:xfrm>
          <a:prstGeom prst="roundRect">
            <a:avLst/>
          </a:prstGeom>
          <a:solidFill>
            <a:srgbClr val="FAFAFA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SAYS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“I want food that is tasty and affordable.”</a:t>
            </a:r>
          </a:p>
          <a:p>
            <a:pPr>
              <a:spcAft>
                <a:spcPts val="1000"/>
              </a:spcAft>
              <a:defRPr sz="1500"/>
            </a:pPr>
            <a:r>
              <a:t>“I don't have much time to cook.”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1737360"/>
          </a:xfrm>
          <a:prstGeom prst="roundRect">
            <a:avLst/>
          </a:prstGeom>
          <a:solidFill>
            <a:srgbClr val="FAFAFA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002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THINKS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“Is this healthy?”</a:t>
            </a:r>
          </a:p>
          <a:p>
            <a:pPr>
              <a:spcAft>
                <a:spcPts val="1000"/>
              </a:spcAft>
              <a:defRPr sz="1500"/>
            </a:pPr>
            <a:r>
              <a:t>“Can I afford it regularly?”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5120640" cy="1737360"/>
          </a:xfrm>
          <a:prstGeom prst="roundRect">
            <a:avLst/>
          </a:prstGeom>
          <a:solidFill>
            <a:srgbClr val="FAFAFA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Orders food online</a:t>
            </a:r>
          </a:p>
          <a:p>
            <a:pPr>
              <a:spcAft>
                <a:spcPts val="1000"/>
              </a:spcAft>
              <a:defRPr sz="1500"/>
            </a:pPr>
            <a:r>
              <a:t>Compares prices and reviews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657600"/>
            <a:ext cx="5120640" cy="1737360"/>
          </a:xfrm>
          <a:prstGeom prst="roundRect">
            <a:avLst/>
          </a:prstGeom>
          <a:solidFill>
            <a:srgbClr val="FAFAFA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794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FEELS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20624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Hungry and busy</a:t>
            </a:r>
          </a:p>
          <a:p>
            <a:pPr>
              <a:spcAft>
                <a:spcPts val="1000"/>
              </a:spcAft>
              <a:defRPr sz="1500"/>
            </a:pPr>
            <a:r>
              <a:t>Happy when food is tasty and convenient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4. What They Hear &amp;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HEARS</a:t>
            </a:r>
          </a:p>
          <a:p>
            <a:pPr>
              <a:spcAft>
                <a:spcPts val="1000"/>
              </a:spcAft>
              <a:defRPr sz="1900"/>
            </a:pPr>
            <a:r>
              <a:t>• Friends recommending restaurants and food apps</a:t>
            </a:r>
          </a:p>
          <a:p>
            <a:pPr>
              <a:spcAft>
                <a:spcPts val="1000"/>
              </a:spcAft>
              <a:defRPr sz="1900"/>
            </a:pPr>
            <a:r>
              <a:t>• Social-media trends and food reviews</a:t>
            </a:r>
          </a:p>
          <a:p>
            <a:pPr>
              <a:spcAft>
                <a:spcPts val="1000"/>
              </a:spcAft>
              <a:defRPr sz="1900"/>
            </a:pPr>
            <a:r>
              <a:t>• Family advice about healthy eating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SEES</a:t>
            </a:r>
          </a:p>
          <a:p>
            <a:pPr>
              <a:spcAft>
                <a:spcPts val="1000"/>
              </a:spcAft>
              <a:defRPr sz="1900"/>
            </a:pPr>
            <a:r>
              <a:t>• Food advertisements and attractive menu photos</a:t>
            </a:r>
          </a:p>
          <a:p>
            <a:pPr>
              <a:spcAft>
                <a:spcPts val="1000"/>
              </a:spcAft>
              <a:defRPr sz="1900"/>
            </a:pPr>
            <a:r>
              <a:t>• Cafeterias, restaurants and delivery options</a:t>
            </a:r>
          </a:p>
          <a:p>
            <a:pPr>
              <a:spcAft>
                <a:spcPts val="1000"/>
              </a:spcAft>
              <a:defRPr sz="1900"/>
            </a:pPr>
            <a:r>
              <a:t>• Different prices, portions and nutritional labels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5. Pains &amp; Gains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PAINS</a:t>
            </a:r>
          </a:p>
          <a:p>
            <a:pPr>
              <a:spcAft>
                <a:spcPts val="1000"/>
              </a:spcAft>
              <a:defRPr sz="1900"/>
            </a:pPr>
            <a:r>
              <a:t>• High food prices</a:t>
            </a:r>
          </a:p>
          <a:p>
            <a:pPr>
              <a:spcAft>
                <a:spcPts val="1000"/>
              </a:spcAft>
              <a:defRPr sz="1900"/>
            </a:pPr>
            <a:r>
              <a:t>• Long waiting or delivery times</a:t>
            </a:r>
          </a:p>
          <a:p>
            <a:pPr>
              <a:spcAft>
                <a:spcPts val="1000"/>
              </a:spcAft>
              <a:defRPr sz="1900"/>
            </a:pPr>
            <a:r>
              <a:t>• Limited healthy choices</a:t>
            </a:r>
          </a:p>
          <a:p>
            <a:pPr>
              <a:spcAft>
                <a:spcPts val="1000"/>
              </a:spcAft>
              <a:defRPr sz="1900"/>
            </a:pPr>
            <a:r>
              <a:t>• Uncertainty about ingredients or nutrition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GAINS</a:t>
            </a:r>
          </a:p>
          <a:p>
            <a:pPr>
              <a:spcAft>
                <a:spcPts val="1000"/>
              </a:spcAft>
              <a:defRPr sz="1900"/>
            </a:pPr>
            <a:r>
              <a:t>• Tasty and nutritious food</a:t>
            </a:r>
          </a:p>
          <a:p>
            <a:pPr>
              <a:spcAft>
                <a:spcPts val="1000"/>
              </a:spcAft>
              <a:defRPr sz="1900"/>
            </a:pPr>
            <a:r>
              <a:t>• Affordable meal options</a:t>
            </a:r>
          </a:p>
          <a:p>
            <a:pPr>
              <a:spcAft>
                <a:spcPts val="1000"/>
              </a:spcAft>
              <a:defRPr sz="1900"/>
            </a:pPr>
            <a:r>
              <a:t>• Fast and convenient service</a:t>
            </a:r>
          </a:p>
          <a:p>
            <a:pPr>
              <a:spcAft>
                <a:spcPts val="1000"/>
              </a:spcAft>
              <a:defRPr sz="1900"/>
            </a:pPr>
            <a:r>
              <a:t>• Clear information about ingredients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6. Key Insights &amp;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Food choices are influenced by more than hunger: price, time, taste, health and social influence all matter.</a:t>
            </a:r>
          </a:p>
          <a:p>
            <a:pPr>
              <a:spcAft>
                <a:spcPts val="1000"/>
              </a:spcAft>
              <a:defRPr sz="2100"/>
            </a:pPr>
            <a:r>
              <a:t>A better food experience should balance convenience, affordability, nutrition and enjoyment.</a:t>
            </a:r>
          </a:p>
          <a:p>
            <a:pPr>
              <a:spcAft>
                <a:spcPts val="1000"/>
              </a:spcAft>
              <a:defRPr sz="2100"/>
            </a:pPr>
            <a:r>
              <a:t>Possible ideas: budget-friendly healthy meals, customizable portions, quick ordering and simple nutrition information.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7.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Empathy helps us understand food from the user's point of view.</a:t>
            </a:r>
          </a:p>
          <a:p>
            <a:pPr algn="ctr">
              <a:defRPr sz="2100"/>
            </a:pPr>
            <a:r>
              <a:t>By identifying what people say, think, do, feel, hear and see, we can design food experiences that better meet real needs.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